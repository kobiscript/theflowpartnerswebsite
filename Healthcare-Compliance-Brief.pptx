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cfr.gov/current/title-45/subtitle-A/subchapter-C/part-164/subpart-E/section-164.502" TargetMode="External"/><Relationship Id="rId2" Type="http://schemas.openxmlformats.org/officeDocument/2006/relationships/hyperlink" Target="https://www.ecfr.gov/current/title-45/subtitle-A/subchapter-C/part-164/subpart-C/section-164.312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ginfo.legislature.ca.gov/faces/codes_displaySection.xhtml?lawCode=PEN&amp;sectionNum=632" TargetMode="External"/><Relationship Id="rId6" Type="http://schemas.openxmlformats.org/officeDocument/2006/relationships/hyperlink" Target="https://www.ecfr.gov/current/title-42/chapter-IV/subchapter-G/part-482/subpart-C/section-482.24" TargetMode="External"/><Relationship Id="rId9" Type="http://schemas.openxmlformats.org/officeDocument/2006/relationships/hyperlink" Target="https://www.healthit.gov/topic/certification-ehrs/2015-edition-test-method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4" Type="http://schemas.openxmlformats.org/officeDocument/2006/relationships/image" Target="../media/image-4-1.png"/><Relationship Id="rId5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3E8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87" y="92943"/>
            <a:ext cx="3305026" cy="49575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800895"/>
            <a:ext cx="479963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F1E1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Healthcare Compliance Brief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25119" y="2374478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critical overview of regulatory exposure facing healthcare organizations using unauthorized AI tools — and how to close the compliance gap before it becomes a liability.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925119" y="3109392"/>
            <a:ext cx="1050652" cy="233214"/>
          </a:xfrm>
          <a:prstGeom prst="roundRect">
            <a:avLst>
              <a:gd name="adj" fmla="val 2451"/>
            </a:avLst>
          </a:prstGeom>
          <a:solidFill>
            <a:srgbClr val="D5DCF6"/>
          </a:solidFill>
          <a:ln/>
        </p:spPr>
      </p:sp>
      <p:sp>
        <p:nvSpPr>
          <p:cNvPr id="7" name="Text 4"/>
          <p:cNvSpPr/>
          <p:nvPr/>
        </p:nvSpPr>
        <p:spPr>
          <a:xfrm>
            <a:off x="3999533" y="3146599"/>
            <a:ext cx="135902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RISK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037758" y="3109392"/>
            <a:ext cx="1692399" cy="233214"/>
          </a:xfrm>
          <a:prstGeom prst="roundRect">
            <a:avLst>
              <a:gd name="adj" fmla="val 2451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1a2d7a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112172" y="3146599"/>
            <a:ext cx="2000771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1A2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HIPAA · CMS · ONC · STATE LAW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0612"/>
            <a:ext cx="450815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F1E1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Regulatory Landscape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2618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 organizations face a complex web of federal and state regulations governing how patient data is captured, stored, and processed. Unauthorized AI tools create systemic exposure across five critical regulatory domains.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62633"/>
            <a:ext cx="2634555" cy="1016124"/>
          </a:xfrm>
          <a:prstGeom prst="roundRect">
            <a:avLst>
              <a:gd name="adj" fmla="val 562"/>
            </a:avLst>
          </a:prstGeom>
          <a:solidFill>
            <a:srgbClr val="F3E8E8"/>
          </a:solidFill>
          <a:ln w="14288">
            <a:solidFill>
              <a:srgbClr val="D9CE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380" y="180089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HIPAA / OCR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80" y="2069157"/>
            <a:ext cx="2358033" cy="471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CFR § 164.502(e)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BAA Requirements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1662633"/>
            <a:ext cx="2634630" cy="1016124"/>
          </a:xfrm>
          <a:prstGeom prst="roundRect">
            <a:avLst>
              <a:gd name="adj" fmla="val 562"/>
            </a:avLst>
          </a:prstGeom>
          <a:solidFill>
            <a:srgbClr val="F3E8E8"/>
          </a:solidFill>
          <a:ln w="14288">
            <a:solidFill>
              <a:srgbClr val="D9CE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2909" y="180089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HIPAA Security Rule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92909" y="2069157"/>
            <a:ext cx="2358107" cy="471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CFR § 164.312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Safeguards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1662633"/>
            <a:ext cx="2634555" cy="1016124"/>
          </a:xfrm>
          <a:prstGeom prst="roundRect">
            <a:avLst>
              <a:gd name="adj" fmla="val 562"/>
            </a:avLst>
          </a:prstGeom>
          <a:solidFill>
            <a:srgbClr val="F3E8E8"/>
          </a:solidFill>
          <a:ln w="14288">
            <a:solidFill>
              <a:srgbClr val="D9CE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1513" y="180089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State Wiretapping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51513" y="2069157"/>
            <a:ext cx="2358033" cy="471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Cal. Penal Code § 632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Two-Party Consent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2802731"/>
            <a:ext cx="4013820" cy="1016124"/>
          </a:xfrm>
          <a:prstGeom prst="roundRect">
            <a:avLst>
              <a:gd name="adj" fmla="val 562"/>
            </a:avLst>
          </a:prstGeom>
          <a:solidFill>
            <a:srgbClr val="F3E8E8"/>
          </a:solidFill>
          <a:ln w="14288">
            <a:solidFill>
              <a:srgbClr val="D9CE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380" y="294099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CMS Conditions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380" y="3209255"/>
            <a:ext cx="3737297" cy="471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CFR § 482.24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Record Services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33913" y="2802731"/>
            <a:ext cx="4013895" cy="1016124"/>
          </a:xfrm>
          <a:prstGeom prst="roundRect">
            <a:avLst>
              <a:gd name="adj" fmla="val 562"/>
            </a:avLst>
          </a:prstGeom>
          <a:solidFill>
            <a:srgbClr val="F3E8E8"/>
          </a:solidFill>
          <a:ln w="14288">
            <a:solidFill>
              <a:srgbClr val="D9CE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2174" y="294099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ONC / Health 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2174" y="3209255"/>
            <a:ext cx="3737372" cy="471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CFR § 170.315(b)(11)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Transparency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6119" y="3958382"/>
            <a:ext cx="8151763" cy="694432"/>
          </a:xfrm>
          <a:prstGeom prst="roundRect">
            <a:avLst>
              <a:gd name="adj" fmla="val 823"/>
            </a:avLst>
          </a:prstGeom>
          <a:solidFill>
            <a:srgbClr val="FCF2B5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138166"/>
            <a:ext cx="155004" cy="12397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99071" y="4113312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to comply with any of these regulations can result in fines, criminal liability, loss of certification, and exclusion from federal programs.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4662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F1E1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HIPAA Violations: PHI Exposure &amp; Technical Safeguards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705794"/>
            <a:ext cx="4103191" cy="2692971"/>
          </a:xfrm>
          <a:prstGeom prst="roundRect">
            <a:avLst>
              <a:gd name="adj" fmla="val 212"/>
            </a:avLst>
          </a:prstGeom>
          <a:solidFill>
            <a:srgbClr val="1A2D7A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829767"/>
            <a:ext cx="35555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45 CFR § 164.502(e) — BAA Requirement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147590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Unauthorized bots that capture Protected Health Information (PHI) without a signed Business Associate Agreement (BAA) constitute a direct HIPAA violation under the Privacy Rule.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796" y="2854598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Unauthorized bots capture PHI with no BAA in place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Fines up to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 million per year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Criminal liability for systemic data leaks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796" y="3648373"/>
            <a:ext cx="43124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u="sng" dirty="0">
                <a:solidFill>
                  <a:srgbClr val="C0CAF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45 CFR § 164.502(e) →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1829767"/>
            <a:ext cx="36141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F1E1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45 CFR § 164.312 — Technical Safeguards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147590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HIPAA Security Rule mandates that all electronic PHI (ePHI) be protected through encryption, access controls, and audit trails. AI tools that bypass these controls create immediate enforcement risk.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3053060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ePHI stored with no encryption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access controls or audit trails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enforcement actions triggered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breach notification requirements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28046" y="4088681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u="sng" dirty="0">
                <a:solidFill>
                  <a:srgbClr val="1A2D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45 CFR § 164.312 →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1888"/>
            <a:ext cx="6331669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F1E1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State, CMS &amp; ONC Regulatory Exposure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83766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federal HIPAA rules, healthcare organizations must navigate state wiretapping statutes, CMS conditions of participation, and emerging ONC AI transparency requirements.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06674"/>
            <a:ext cx="2637086" cy="3074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9595" y="1743001"/>
            <a:ext cx="2307282" cy="38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🎙️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State Wiretapping Laws — Two-Party Consent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9595" y="2196554"/>
            <a:ext cx="2307282" cy="2348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Rule:</a:t>
            </a:r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Cal. Penal Code § 632 and similar laws in FL, MA, PA, IL, MD, MT, NH, and WA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Violation:</a:t>
            </a:r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Recording patient conversations without explicit consent from all parties.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Penalty:</a:t>
            </a:r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Criminal wiretapping charges and civil lawsuits. These statutes apply regardless of whether the recording is made by a human or an AI bot.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b="1" u="sng" dirty="0">
                <a:solidFill>
                  <a:srgbClr val="1A2D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Cal. Penal Code § 632 →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3383" y="1606674"/>
            <a:ext cx="2637160" cy="3074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46859" y="1743001"/>
            <a:ext cx="2307357" cy="572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🏥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CMS Conditions of Participation — Medical Record Services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446859" y="2387278"/>
            <a:ext cx="2307357" cy="2154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Rule:</a:t>
            </a:r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42 CFR § 482.24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Violation:</a:t>
            </a:r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AI-generated clinical notes committed to patient charts without human review violate CMS medical record integrity standards.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Penalty: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Medical malpractice lawsuits + Medicare billing fraud under the False Claims Act — up to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$27,894 per claim</a:t>
            </a:r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plus treble damages.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b="1" u="sng" dirty="0">
                <a:solidFill>
                  <a:srgbClr val="1A2D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42 CFR § 482.24 →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0721" y="1606674"/>
            <a:ext cx="2637160" cy="3074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04198" y="1743001"/>
            <a:ext cx="2307357" cy="38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ONC — AI Transparency for Predictive Decision Support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204198" y="2196554"/>
            <a:ext cx="2307357" cy="234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Rule:</a:t>
            </a:r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45 CFR § 170.315(b)(11)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Violation:</a:t>
            </a:r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bots generating clinical notes with no transparency, no bias auditing, and no human oversight fail ONC certification standards.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Penalty:</a:t>
            </a:r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Loss of EHR integration certification and market exclusion — effectively barring the organization from federally connected health IT ecosystems.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b="1" u="sng" dirty="0">
                <a:solidFill>
                  <a:srgbClr val="1A2D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ONC Certification Standards →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4795"/>
            <a:ext cx="5290021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1F1E1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Penalty Summary: What's at Stake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52946"/>
            <a:ext cx="81517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financial and operational consequences of non-compliance are severe. Below is a consolidated view of the penalties organizations face across each regulatory domain.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423169"/>
            <a:ext cx="8151763" cy="2607915"/>
          </a:xfrm>
          <a:prstGeom prst="roundRect">
            <a:avLst>
              <a:gd name="adj" fmla="val 2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5330" y="1495946"/>
            <a:ext cx="201744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Regulation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408932" y="1495946"/>
            <a:ext cx="250366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Violation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88756" y="1495946"/>
            <a:ext cx="250366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Penalty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68579" y="1495946"/>
            <a:ext cx="201744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Authority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5330" y="1812578"/>
            <a:ext cx="1560240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HIPAA Privacy Rule (§ 164.502(e))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08932" y="1812578"/>
            <a:ext cx="250366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BAA for AI bots capturing PHI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88756" y="1812578"/>
            <a:ext cx="250366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$2M/year + criminal liability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68579" y="1812578"/>
            <a:ext cx="201744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HHS / OCR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5330" y="2305050"/>
            <a:ext cx="1560240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HIPAA Security Rule (§ 164.312)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08932" y="2305050"/>
            <a:ext cx="250366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ePHI without encryption or audit trails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8756" y="2305050"/>
            <a:ext cx="2046461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enforcement + breach notification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68579" y="2305050"/>
            <a:ext cx="201744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HHS / OCR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30" y="2797522"/>
            <a:ext cx="201744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Wiretapping Laws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08932" y="2797522"/>
            <a:ext cx="250366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Recording without two-party consent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8756" y="2797522"/>
            <a:ext cx="250366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Criminal charges + civil lawsuits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68579" y="2797522"/>
            <a:ext cx="201744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AGs / Courts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5330" y="3114154"/>
            <a:ext cx="201744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(42 CFR § 482.24)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08932" y="3114154"/>
            <a:ext cx="250366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Unreviewed AI notes in patient charts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8756" y="3114154"/>
            <a:ext cx="2046461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$27,894/claim + treble damages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68579" y="3114154"/>
            <a:ext cx="201744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/ DOJ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5330" y="3606626"/>
            <a:ext cx="1560240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 (45 CFR § 170.315(b)(11))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08932" y="3606626"/>
            <a:ext cx="250366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AI transparency or bias auditing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88756" y="3606626"/>
            <a:ext cx="2046461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of EHR certification + market exclusion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68579" y="3606626"/>
            <a:ext cx="201744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6119" y="4149626"/>
            <a:ext cx="8151763" cy="609079"/>
          </a:xfrm>
          <a:prstGeom prst="roundRect">
            <a:avLst>
              <a:gd name="adj" fmla="val 938"/>
            </a:avLst>
          </a:prstGeom>
          <a:solidFill>
            <a:srgbClr val="FFB3B4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419" y="4306788"/>
            <a:ext cx="142875" cy="1143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67594" y="4283571"/>
            <a:ext cx="766598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AI bot operating without authorization can simultaneously trigger violations across all five regulatory domains — compounding penalties exponentially.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5430"/>
            <a:ext cx="4696346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F1E1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NoteTakerGuard Solution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40222"/>
            <a:ext cx="815176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NoteTakerGuard is purpose-built to close the compliance gap created by unauthorized AI tools in healthcare environments — protecting organizations from OCR, CMS, ONC, and state regulatory exposure.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36340"/>
            <a:ext cx="236413" cy="2364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813545"/>
            <a:ext cx="14778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Rapid Bot Detection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96119" y="2065809"/>
            <a:ext cx="2623393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and ejects unauthorized AI bots in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 5 seconds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preventing PHI capture before it occurs.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303" y="1436340"/>
            <a:ext cx="236413" cy="2364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0303" y="1813545"/>
            <a:ext cx="207749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Audio or Video Recording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260303" y="2065809"/>
            <a:ext cx="2623393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records audio or video, eliminating the risk of ePHI exfiltration and two-party consent violations.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4488" y="1436340"/>
            <a:ext cx="236413" cy="2364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4488" y="1813545"/>
            <a:ext cx="242664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Audit-Ready Compliance Logging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024488" y="2065809"/>
            <a:ext cx="2623393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tamper-proof logs ready for OCR, CMS, and state regulatory examinations at any time.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845222"/>
            <a:ext cx="236413" cy="2364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222427"/>
            <a:ext cx="14778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SIEM Integration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96119" y="3474690"/>
            <a:ext cx="2623393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with existing SIEM platforms to deliver continuous, tamper-proof audit trails across your environment.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303" y="2845222"/>
            <a:ext cx="236413" cy="2364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0303" y="3222427"/>
            <a:ext cx="191102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Organizational Control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3260303" y="3474690"/>
            <a:ext cx="2623393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your organization maintains complete control over which AI tools are permitted to operate within your systems.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496119" y="4155504"/>
            <a:ext cx="8151763" cy="642491"/>
          </a:xfrm>
          <a:prstGeom prst="roundRect">
            <a:avLst>
              <a:gd name="adj" fmla="val 890"/>
            </a:avLst>
          </a:prstGeom>
          <a:solidFill>
            <a:srgbClr val="B6FCB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288" y="4323606"/>
            <a:ext cx="147786" cy="11817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80244" y="4297710"/>
            <a:ext cx="7649468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NoteTakerGuard addresses all five regulatory domains — HIPAA Privacy, HIPAA Security, State Wiretapping, CMS Conditions of Participation, and ONC AI Transparency — in a single integrated solution.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A2D7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2026-07-06T17:13:27Z</dcterms:created>
  <dcterms:modified xsi:type="dcterms:W3CDTF">2026-07-06T17:13:27Z</dcterms:modified>
</cp:coreProperties>
</file>